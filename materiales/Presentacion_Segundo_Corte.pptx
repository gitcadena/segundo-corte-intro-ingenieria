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la sesión ubicando el corte dentro del semestre: vienen del primer parcial (ciclo de vida y tendencias) y ahora van a trabajar el proceso, la calidad y los paradigmas. Anunciar que todo el corte tiene una aplicación de apoyo donde la teoría de cada sesión viene con actividades que se corrigen solas.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la mecánica de las cinco sesiones: 25 minutos de teoría proyectada, 35 de práctica en la aplicación, 20 de puesta en común sobre lo que más falló. Pedirles que creen la cuenta hoy mismo: nombre, apellido, grupo, correo y contraseña. El código estudiantil es opcional y no sirve para entrar.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Escribir los objetivos en el tablero y dejarlos visibles toda la sesión. Volver a ellos en la puesta en común: preguntar cuáles sienten que ya cumplen.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Insistir en la palabra evidencia: es lo que separa a un ingeniero de alguien que programa bien. Preguntarles: si entregan un trabajo que funciona pero no pueden mostrar cómo lo comprobaron, ¿qué están entregando? Una promesa.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Encima corren las actividades sombrilla, que nunca terminan: gestión de riesgos, aseguramiento de calidad, control de versiones, medición y revisiones. Decirles la frase clave: cuando un proyecto se cae, casi siempre falló una sombrilla, no la codificación.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su proyecto de curso, de tres integrantes, los siete roles siguen existiendo: alguien tendrá que priorizar y alguien tendrá que escribir los criterios de aceptación. Si nadie lo hace explícitamente, esas decisiones igual se toman, pero por omisión.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existe un modelo superior: existe uno adecuado a un nivel de incertidumbre y a un costo de error. Los dos criterios son independientes: hay proyectos ágiles con verificación muy estricta. Desmontar aquí el mito de que en Scrum no se documenta.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tres ejemplos al grupo en voz alta y convertirlos entre todos. Es el punto que más se evalúa en el parcial y el que más se falla.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minutos. Pasar por los puestos. Los que terminen antes tienen dos desafíos opcionales: «Mitos sobre los modelos de proceso» y «Proyectar con velocidad». En la puesta en común, proyectar «Ordena el desarrollo» y resolverlo entre todos discutiendo las dependencias.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Arrancar con la frase de apertura: «funciona» es una opinión hasta que alguien define contra qué se compara. Preguntar cómo sabrían si una app es buena, y anotar en el tablero cuántas respuestas son medibles.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típica de parcial: ¿cuál es la norma del modelo de calidad del producto? Respuesta: 25010. Advertir la confusión más común: ISO 9001 es gestión de la calidad de una ORGANIZACIÓN; una empresa certificada en 9001 puede entregar software malísimo sin contradicción.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 explícita con esto: hay material en internet con las nueve características de 2023 y material con las ocho de 2011. Las dos son correctas, pero no se mezclan. En el parcial se pregunta por la de ocho.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 porque cada una la arregla alguien distinto: la primera es alcance (hay que construirla), la segunda es un defecto (corregir la lógica), la tercera es diseño de interacción (el código está bien y aun así el usuario no logra su objetivo).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Contarles el ejemplo completo de la aplicación: 10 estudiantes, tarea «reserve la sala 203», 70 % de éxito, mediana 2:30, y la causa concreta: un campo de fecha que exige AAAA-MM-DD sin decirlo. La conversación pasa de «la gente se queja» a «tres de cada diez no logran reservar».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«Encuentra la fricción» es la actividad para proyectar: intentar completar el formulario en vivo, delante de todos, y que el grupo vaya nombrando los problemas. Advertir que dos de los problemas listados NO ocurren: marcarlos resta, porque reportar defectos inexistentes también cuesta tiempo al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Ojo con la formulación: habla de DENSIDAD DE TRANSISTORES, no de velocidad. Ese matiz es todo el contenido de las dos diapositivas siguientes y es la pregunta más frecuente del parcial.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los 2 años son idénticos; a los 12, uno vale 700 y el otro 6.400. La diferencia no es «más rápido»: en el lineal la diferencia entre puntos consecutivos es constante; en el exponencial esa diferencia también crece. Fórmula: valor final = inicial × 2^(tiempo ÷ periodo).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patrón del error siempre es el mismo: tomar una observación sobre una magnitud (transistores) y sacar de ella una conclusión sobre otra (velocidad, garantías futuras, necesidad de optimizar). Es el mismo salto que van a oír toda la carrera con la inteligencia artificial.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Principios de la 1581: legalidad, finalidad, libertad, veracidad, transparencia, acceso y circulación restringida, seguridad y confidencialidad. El que más se incumple en proyectos académicos es finalidad: se piden datos «por si acaso». Recordarles que su proyecto final recoge datos de compañeros y que la ley les aplica desde 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Proyectar «Predice antes de mover» y pedir la predicción a mano alzada ANTES de ejecutar: el de la hoja de papel doblada 20 veces casi nadie lo acierta (son 105 metros). Ese momento de error compartido es el que hace entender el exponencial.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 de apertura: el software no falla cuando el usuario hace lo esperado; falla en los bordes. Preguntarles qué es lo más raro que han escrito en un formulario.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del campo «cantidad de reservas, entre 1 y 5»: si el código escribió n &lt; 5 en vez de n &lt;= 5, la prueba con 5 falla y las otras tres pasan. Por eso las fronteras se prueban en pareja: el último válido y el primero inválido.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que confunde a todo el mundo: «el CSV abre bien en Excel y en LibreOffice» es COMPATIBILIDAD (hay intercambio de información), aunque mencione dos programas. «La misma app corre en Windows y en Ubuntu» es PORTABILIDAD: no hay intercambio, hay mudanza. Proyectar los dos casos juntos y pedir que voten antes de dar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consecuencias: cada nueve adicional cuesta unas diez veces más (exige redundancia, despliegue sin interrupción y monitoreo continuo); y un compromiso sin ventana declarada no significa nada, porque «99,9 % en horario de biblioteca» y «99,9 % 24×7» son cosas muy distintas.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aplicación del curso aplica esta regla con sus propios intentos: si se cae la red, dice «Pendiente de sincronización» y reintenta con un identificador que impide contar dos veces. Vale la pena mostrarlo en vivo desconectando el wifi un momento.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«Rompe el formulario» es la que hay que proyectar: el validador se ejecuta de verdad y muestra en una tabla qué exigían las reglas frente a qué hizo el sistema. Un defecto solo se descubre cuando el estudiante envía una entrada que los hace discrepar. Pedir que griten entradas raras.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 de apertura: un paradigma no es una sintaxis, es una forma de repartir la responsabilidad dentro de un programa. Esta sesión es la más práctica del corte: conviene acortar la teoría a 20 minutos y dar 40 de laboratorio.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los ejercicios de la aplicación la salida siempre viene con su formato exacto, y no es capricho: es para que el estudiante aprenda que un enunciado ambiguo produce implementaciones distintas y ninguna está equivocada.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error más frecuente NO es de sintaxis: es inicializar dentro del ciclo. Si c ← 0 queda adentro, se reinicia en cada vuelta y el resultado siempre será 0 o 1, sin que el programa falle nunca. Es un defecto silencioso, de los peores. Con el centinela el error opuesto: leer dentro del ciclo antes de comprobar, con lo cual el centinela se procesa como dato.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 en vivo la traza del intercambio de dos variables con una temporal (t ← a; a ← b; b ← t) y preguntar qué pasa si se quita la temporal. En la aplicación, la actividad «Sigue las variables» calcula la traza con el intérprete: no hay respuestas escritas a mano que se puedan desactualizar.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prueba que separa clase de objeto: si puedes contarlos o señalar uno, es objeto. «Sala» no se puede contar, así que es clase; «la sala 203» sí, así que es objeto; y 30 no es ninguna de las dos, es el valor de un atributo. Error clásico del parcial: tratar «Sala203» como si fuera una clase distinta.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Insistir en que los juegos EJECUTAN el algoritmo: si su orden funciona, pasa, aunque no coincida con el que yo tenía en mente. Y si el orden «correcto» no produce la salida, no pasa. Para quienes terminen antes: el desafío opcional de lectura con centinela. El laboratorio queda abierto para el trabajo del tablero.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Traer impresa o proyectada la tabla del panel docente con las actividades más atascadas. Recordarles que el reto final de práctica (estación 6) es el ensayo general: mismo alcance y mismo tipo de preguntas, con cronómetro opcional de 45 minutos, y que al terminarlo reciben un informe por concepto con el enlace exacto a lo que conviene repasar.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claro el límite de la nota orientativa: sale de las actividades base de la aplicación y excluye desafíos opcionales y talleres. La nota académica la define el parcial más los entregables. Si alguien pregunta si la app «pone nota», la respuesta es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el corte conectando las cinco sesiones: todas responden a la misma pregunta —¿cómo sé que esto está bien?— y todas la responden igual: con evidencia que otro pueda reproducir. Es el hilo que sigue en el resto de la carrera.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INTRODUCCIÓN A LA INGENIERÍA INFORMÁTICA</a:t>
            </a:r>
          </a:p>
          <a:p>
            <a:pPr>
              <a:spcAft>
                <a:spcPts val="1600"/>
              </a:spcAft>
            </a:pPr>
            <a:r>
              <a:rPr sz="4600" b="1">
                <a:solidFill>
                  <a:srgbClr val="14181F"/>
                </a:solidFill>
                <a:latin typeface="Calibri"/>
              </a:rPr>
              <a:t>Segundo corte · Sesiones 7 a 11</a:t>
            </a:r>
          </a:p>
          <a:p>
            <a:pPr>
              <a:spcAft>
                <a:spcPts val="1000"/>
              </a:spcAft>
            </a:pPr>
            <a:r>
              <a:rPr sz="2600" b="0">
                <a:solidFill>
                  <a:srgbClr val="4A5464"/>
                </a:solidFill>
                <a:latin typeface="Calibri"/>
              </a:rPr>
              <a:t>Del proceso de desarrollo a los paradigmas de programación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4A5464"/>
                </a:solidFill>
                <a:latin typeface="Calibri"/>
              </a:rPr>
              <a:t>Institución Universitaria Colegio Mayor del Cauca · Popayán</a:t>
            </a:r>
          </a:p>
          <a:p>
            <a:pPr>
              <a:spcAft>
                <a:spcPts val="0"/>
              </a:spcAft>
            </a:pPr>
            <a:r>
              <a:rPr sz="1700" b="0">
                <a:solidFill>
                  <a:srgbClr val="4A5464"/>
                </a:solidFill>
                <a:latin typeface="Calibri"/>
              </a:rPr>
              <a:t>Ing. Ángela Patricia Paz Guañarita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CÓMO VAMOS A TRABAJAR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Teoría proyectada, práctica en los equipos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4181F"/>
                </a:solidFill>
                <a:latin typeface="Calibri"/>
              </a:rPr>
              <a:t>Seis estaciones en la aplicación del curso, una por bloque de contenido.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4181F"/>
                </a:solidFill>
                <a:latin typeface="Calibri"/>
              </a:rPr>
              <a:t>Cada estación: qué aprenderás · comprende · mira un ejemplo · practica jugando · ponlo a prueba · qué te llevas.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4181F"/>
                </a:solidFill>
                <a:latin typeface="Calibri"/>
              </a:rPr>
              <a:t>57 actividades que se verifican solas, con pistas progresivas y explicación de por qué falla cada opción.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4181F"/>
                </a:solidFill>
                <a:latin typeface="Calibri"/>
              </a:rPr>
              <a:t>Un laboratorio de pseudocódigo que ejecuta el código de verdad, con la traza de las variables.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4181F"/>
                </a:solidFill>
                <a:latin typeface="Calibri"/>
              </a:rPr>
              <a:t>El avance se guarda en la cuenta de cada quien: se puede empezar en la sala y seguir desde el celular.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El ritmo de cada sesión: 25 min de teoría · 35 min de práctica · 20 min de puesta en común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7 · EL PROCESO DE DESARROLLO DE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Qué vamos a poder hacer al terminar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Separar el problema de la solución en un caso real del campus.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Escribir un requisito que otra persona pueda comprobar sin preguntarnos nada.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Reconocer qué aporta cada actividad del proceso y qué rol la ejerce.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Elegir el alcance de una primera entrega cuando la capacidad no alcanza para todo.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Decidir qué hacer cuando llega un cambio a mitad del proyecto.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Producto y proceso no son lo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PRODUCTO: lo que se entrega. Ejecutable, API, app, documentación, datos.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PROCESO: la secuencia de actividades que lo produce.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Dos equipos pueden entregar el mismo producto con procesos muy distintos.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Esa diferencia explica cuánto cuesta cambiarlo, cuántos defectos llegan al usuario y si el equipo puede mantenerlo cuando quien lo escribió ya no está.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Un proceso transforma una necesidad en un sistema Y en la evidencia de que lo resuelve.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Una funcionalidad sin pruebas y sin requisitos escritos no es un entregable: es una promesa.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Las cinco actividades marco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40280"/>
          <a:ext cx="1051560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151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Actividad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Pregunta que responde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Salida típica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Comunicación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¿Qué necesita quién y para qué?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Requisitos, historias, glosario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Planeación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¿Cómo, con quién, cuándo, con qué riesgos?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Cronograma, estimaciones, riesgos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Modelado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¿Cómo se estructura antes de codificar?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Diagramas, modelo de datos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Construcción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¿El código hace lo acordado?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Código, pruebas, build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Despliegue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¿El usuario lo tiene y qué opina?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Versión liberada, manual, feedback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4223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Encima de todas: riesgos, calidad, control de versiones, medición y revisiones.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Los roles son decisiones, no cargos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Analista de requisitos — traduce «que sea rápido» a un umbral medible.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Arquitecto — decide la estructura. Sus decisiones son las más caras de revertir.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Desarrollador — implementa y prueba su unidad.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Ingeniero de pruebas (QA) — diseña experimentos que puedan fallar.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DevOps — convierte «funciona en mi máquina» en «funciona en producción».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Product Owner — decide qué NO se hace en esta versión.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Diseñador UX — valida con usuarios reales, con evidencia, no con gustos.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En un equipo de tres, los siete roles siguen existiendo.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Modelos de proceso: cuál, cuándo y por qué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40280"/>
          <a:ext cx="1051560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151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Funciona cuando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Se rompe cuando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Cascada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Requisitos estables, regulados o licitados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El cliente descubre lo que quería al ver el producto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Incremental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Se necesita valor temprano y el alcance se parte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Las partes tienen dependencias fuertes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Prototipos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La interacción es el riesgo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Exigen que el prototipo sea el producto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Espiral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Proyecto grande, largo, de alto riesgo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No hay presupuesto real para iterar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Ágil (Scrum)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Los requisitos cambian y hay acceso al usuario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Se adopta la ceremonia sin las prácticas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4223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A mayor incertidumbre, ciclo de retroalimentación más corto. A mayor costo de falla, verificación más formal.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Un requisito sirve si se puede hacer fallar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Vago:  «El sistema debe ser rápido e intuitivo.»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Comprobable:  «El 95 % de las consultas responde en menos de 2 s con 200 usuarios concurrentes.»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Un requisito verificable indica QUÉ se mide, EN QUÉ CONDICIONES y CUÁL es el umbral.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Prueba de fuego: si no puedes imaginar un experimento cuyo resultado obligue a decir «esto no se cumplió», todavía no es un requisito.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Restricción ≠ requisito: «debe correr en los equipos de la sala 2» limita la solución, no describe una función.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Magnitud + condición + umbral.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7 ·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Abran la estación 1: Cómo se construye el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Ordena el desarrollo — organizar las acciones del sistema de reserva de salas.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¿Quién se encarga? — emparejar responsabilidades con roles.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Requisito o frase vaga — clasificar y después arreglar una frase vaga.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Construye una entrega — elegir el alcance con 8 puntos de capacidad.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Llegó un cambio — decidir y ver la consecuencia de la decisión.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14181F"/>
                </a:solidFill>
                <a:latin typeface="Calibri"/>
              </a:rPr>
              <a:t>Ponlo a prueba: Del problema al primer incremento (4 pasos).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6B3C"/>
                </a:solidFill>
                <a:latin typeface="Calibri"/>
              </a:rPr>
              <a:t>Taller de cierre: un problema del campus, sus usuarios y tres requisitos comprobables.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8 · CALIDAD, FUNCIONALIDAD Y USABILIDAD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Qué vamos a poder hacer al terminar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Ubicar ISO/IEC 25010 dentro de la familia SQuaRE y nombrar sus ocho características.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Distinguir una función ausente, una función incorrecta y una difícil de usar.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Calcular tasa de éxito y tiempo en tarea con datos de una prueba con usuarios.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Convertir un requisito en una comprobación que otro podría ejecutar.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La familia ISO/IEC 25000 (SQuaRE)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40280"/>
          <a:ext cx="1051560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151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División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Numeración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Qué contiene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Gestión de calidad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2500n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Vocabulario y guía general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Modelo de calidad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2501n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ISO/IEC 25010 (producto) y 25012 (datos)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Medición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2502n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Métricas de calidad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Requisitos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2503n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Especificación de requisitos de calidad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Evaluación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2504n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ISO/IEC 25040: el proceso de evaluación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4223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El modelo de características es ISO/IEC 25010. No es 25000 ni 25001 ni 9001.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Las ocho características del producto (edición 2011)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1. Adecuación funcional     5. Fiabilidad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2. Eficiencia de desempeño  6. Seguridad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3. Compatibilidad           7. Mantenibilidad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4. Usabilidad               8. Portabilidad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La revisión de 2023 reorganiza el modelo en nueve: renombra usabilidad como capacidad de interacción, separa flexibilidad e incorpora seguridad física (safety).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En el curso trabajamos la edición de ocho características. El error que sí se penaliza es mezclar las dos listas.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Trabajamos el modelo de 2011. Señalamos el cambio de 2023 donde corresponde.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Tres fallas que parecen la misma y no lo 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40280"/>
          <a:ext cx="10515600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532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Lo que dice el usuario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Qué pasó en realidad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Característica</a:t>
                      </a:r>
                    </a:p>
                  </a:txBody>
                  <a:tcPr/>
                </a:tc>
              </a:tr>
              <a:tr h="5532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«No puedo cancelar mi reserva»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La función no existe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Adecuación funcional · completitud</a:t>
                      </a:r>
                    </a:p>
                  </a:txBody>
                  <a:tcPr/>
                </a:tc>
              </a:tr>
              <a:tr h="5532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«Cancelé la mía y se borró la de otro»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La función existe y hace algo distinto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Adecuación funcional · corrección</a:t>
                      </a:r>
                    </a:p>
                  </a:txBody>
                  <a:tcPr/>
                </a:tc>
              </a:tr>
              <a:tr h="5532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«Sí se puede, pero nadie encuentra cómo»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Existe, es correcta, está escondida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Usabilidad · operabilidad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5445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Cada una la arregla alguien distinto. Por eso hay que nombrarlas bien.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Usabilidad: de la opinión a la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Tasa de éxito = quienes completan la tarea ÷ total × 100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Tiempo en tarea = MEDIANA de los tiempos, solo de quienes completaron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Errores por tarea = total de errores ÷ participantes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Los tiempos de quienes NO completaron no entran: alguien que abandonó a los 30 segundos haría parecer eficiente un formulario que nadie logra llenar.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Con 5 a 10 participantes se descubre qué arreglar, pero no se puede afirmar «el 80 % de nuestros usuarios lo logra».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La usabilidad no se opina: se mide con personas haciendo una tarea concreta.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8 ·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Abran la estación 2: ¿Cuándo un software es bueno?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Detective de calidad — clasificar fallos por característica afectada.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Encuentra la fricción — usar un formulario con defectos reales y nombrarlos.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Mejora la interfaz — elegir cambios y ver cómo se transforma el formulario.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Mide la usabilidad — calcular tasa de éxito, mediana y errores con datos reales.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¿Qué probarías? — emparejar requisitos con comprobaciones observables.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14181F"/>
                </a:solidFill>
                <a:latin typeface="Calibri"/>
              </a:rPr>
              <a:t>Ponlo a prueba: Diagnóstico de calidad de una app real (4 pasos).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6B3C"/>
                </a:solidFill>
                <a:latin typeface="Calibri"/>
              </a:rPr>
              <a:t>Taller de cierre: auditar una app conocida con la lista de chequeo y justificar dos mejoras.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SESIONES 8 Y 9 · TIC EN LA SOCIEDAD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Ley de Moore: qué dice exactamente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1">
                <a:solidFill>
                  <a:srgbClr val="14181F"/>
                </a:solidFill>
                <a:latin typeface="Calibri"/>
              </a:rPr>
              <a:t>El número de transistores en un circuito integrado de costo mínimo se duplica aproximadamente cada dos años.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Gordon Moore, 1965; él mismo la revisó en 1975 al periodo de dos años.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Es una observación empírica sobre una industria. No es una ley física ni un derecho adquirido.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Se ha venido desacelerando por límites físicos (fugas, disipación) y económicos (el costo de cada nueva planta).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Describe transistores. No describe la velocidad de tu programa.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SESIONES 8 Y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Lineal y exponencial: dónde se separan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40280"/>
          <a:ext cx="10515600" cy="352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0422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Año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Lineal (+100 cada 2 años)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Exponencial (×2 cada 2 años)</a:t>
                      </a:r>
                    </a:p>
                  </a:txBody>
                  <a:tcPr/>
                </a:tc>
              </a:tr>
              <a:tr h="50422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100</a:t>
                      </a:r>
                    </a:p>
                  </a:txBody>
                  <a:tcPr/>
                </a:tc>
              </a:tr>
              <a:tr h="50422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200</a:t>
                      </a:r>
                    </a:p>
                  </a:txBody>
                  <a:tcPr/>
                </a:tc>
              </a:tr>
              <a:tr h="50422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400</a:t>
                      </a:r>
                    </a:p>
                  </a:txBody>
                  <a:tcPr/>
                </a:tc>
              </a:tr>
              <a:tr h="50422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800</a:t>
                      </a:r>
                    </a:p>
                  </a:txBody>
                  <a:tcPr/>
                </a:tc>
              </a:tr>
              <a:tr h="50422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1.600</a:t>
                      </a:r>
                    </a:p>
                  </a:txBody>
                  <a:tcPr/>
                </a:tc>
              </a:tr>
              <a:tr h="5042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6.400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861304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Seis duplicaciones multiplican por 64, no por 12.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SESIONES 8 Y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Qué NO se puede concluir de la Ley de Moore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«Mi programa correrá el doble de rápido en dos años.»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Desde ~2005 la frecuencia de reloj se estancó. Los transistores adicionales van a más núcleos, más caché y aceleradores.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Un programa de un solo hilo usa un núcleo: no se acelera por sí solo.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Ley de Amdahl: la fracción forzosamente secuencial acota la aceleración máxima. Si el 20 % no se puede repartir, ningún número de núcleos da más de 5×.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4181F"/>
                </a:solidFill>
                <a:latin typeface="Calibri"/>
              </a:rPr>
              <a:t>«Como el hardware mejora, no hace falta optimizar.» — Falso, y además ignora a quien usa un equipo de hace ocho años.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Más transistores ≠ programas más rápidos.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SESIONES 8 Y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Marco legal colombiano: dos leyes que se confunden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40280"/>
          <a:ext cx="1051560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151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Ley 1273 de 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Ley 1581 de 2012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Qué 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Reforma del Código Penal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Ley estatutaria de datos personales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Qué hace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Crea el bien jurídico de protección de la información (arts. 269A–269J)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Regula el tratamiento de datos personales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A quién obliga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A quien ATACA un sistema o unos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A quien CUSTODIA datos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Ejemplo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Entrar con la contraseña de otro, aunque no dañe 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Guardar códigos y correos sin autorización ni finalidad</a:t>
                      </a:r>
                    </a:p>
                  </a:txBody>
                  <a:tcPr/>
                </a:tc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Quién vigila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Fiscalía y jueces penales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Superintendencia de Industria y Comercio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4223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La 1273 castiga a quien ataca. La 1581 obliga a quien custodia. Ustedes casi siempre serán lo segundo.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SESIONES 8 Y 9 ·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Abran la estación 4: Informática y sociedad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Simulador de duplicación — mover valor inicial, periodo y tiempo, y leer el gráfico.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Predice antes de mover — anticipar, ejecutar y comparar. Equivocarse es el punto.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Mito o conclusión válida — siete afirmaciones sobre tecnología y crecimiento.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Diseña para todos — 10 puntos de esfuerzo para ampliar quién puede usar el sistema.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¿Necesitas ese dato? — decidir qué pide un formulario y con qué finalidad.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14181F"/>
                </a:solidFill>
                <a:latin typeface="Calibri"/>
              </a:rPr>
              <a:t>Ponlo a prueba: Un servicio digital para todo el campus (4 pasos).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6B3C"/>
                </a:solidFill>
                <a:latin typeface="Calibri"/>
              </a:rPr>
              <a:t>Taller de cierre: analizar un servicio digital del campus — beneficios, barreras y datos.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9 · PORTABILIDAD, COMPATIBILIDAD Y ROBUSTEZ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Qué vamos a poder hacer al terminar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Escribir las reglas de validación de un campo: tipo, rango y formato.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Elegir los valores de frontera que hay que probar en cualquier restricción numérica.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Separar compatibilidad, portabilidad y disponibilidad con casos concretos.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Decidir cómo debe comportarse una aplicación cuando se cae la conexión.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Redactar un reporte de defecto que otra persona pueda reproducir.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Las tres clases de entrada que hay que probar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NORMAL — valor típico, lejos de los bordes.  Ej.: 3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FRONTERA — justo en el borde y justo afuera.  Ej.: 0, 1, 5, 6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INVÁLIDA — tipo, formato o ausencia.  Ej.: «tres», 2.5, vacío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Regla que no falla: para «entre A y B» siempre hay cuatro casos obligatorios — A−1, A, B y B+1.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Con esos cuatro se detecta cualquier error de operador de comparación (&lt; en vez de &lt;=).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Un solo campo numérico produce ocho casos de prueba. No es exageración: es el mínimo.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Compatibilidad y portabilidad: la pregunta que las separa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40280"/>
          <a:ext cx="1051560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913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¿El sistema…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Entonces es…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Subcaracterísticas</a:t>
                      </a:r>
                    </a:p>
                  </a:txBody>
                  <a:tcPr/>
                </a:tc>
              </a:tr>
              <a:tr h="5913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…intercambia información con otro producto, o convive con él?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Compatibilidad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Interoperabilidad, coexistencia</a:t>
                      </a:r>
                    </a:p>
                  </a:txBody>
                  <a:tcPr/>
                </a:tc>
              </a:tr>
              <a:tr h="5913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…se instala y funciona en otro entorno?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Portabilidad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Adaptabilidad, instalación, reemplazo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105656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Intercambio o convivencia → compatibilidad. Mudanza de entorno → portabilidad.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Qué significa un nueve más de disponibilidad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40280"/>
          <a:ext cx="10515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3035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Disponibilidad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Caída máxima al 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Caída máxima al año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99 %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7 h 18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3 días 15 h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99,5 %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3 h 39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1 día 19 h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99,9 %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43 min 50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8 h 46 min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99,99 %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4 min 23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52 min 36 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98347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De 99,5 % a 99,9 % el margen de caída se reduce a la quinta parte.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Y si se cae la conexión a mitad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1">
                <a:solidFill>
                  <a:srgbClr val="14181F"/>
                </a:solidFill>
                <a:latin typeface="Calibri"/>
              </a:rPr>
              <a:t>(a) Pantalla en blanco y datos perdidos.  Inaceptable.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14181F"/>
                </a:solidFill>
                <a:latin typeface="Calibri"/>
              </a:rPr>
              <a:t>(b) «Error de red» y datos perdidos.  Honesto pero cruel.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14181F"/>
                </a:solidFill>
                <a:latin typeface="Calibri"/>
              </a:rPr>
              <a:t>(c) Explica qué pasó, conserva lo escrito y deja el envío en cola.  Correcto.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Regla que no se negocia: nunca se confirma «Guardado» si la escritura no se completó.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Tres estados, no dos: guardando · guardado · pendiente de sincronización.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Prometer éxito por adelantado produce el conflicto que el sistema existía para evitar.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9 ·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Abran la estación 3: Que no se rompa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Rompe el formulario — hay cuatro defectos reales; hay que provocarlos, no adivinarlos.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Explora los límites — elegir el conjunto mínimo y suficiente de valores.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¿Compatible o portable? — clasificar ocho situaciones, dos de ellas tramposas.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Se cayó la conexión — elegir cómo responde la aplicación y ver la consecuencia.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Diseña las pruebas — completar una tabla de entrada, resultado esperado y motivo.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14181F"/>
                </a:solidFill>
                <a:latin typeface="Calibri"/>
              </a:rPr>
              <a:t>Ponlo a prueba: Poner a prueba una función nueva (4 pasos).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6B3C"/>
                </a:solidFill>
                <a:latin typeface="Calibri"/>
              </a:rPr>
              <a:t>Taller de cierre: un reporte de defecto real que otro grupo pueda reproducir.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10 · PARADIGMAS DE PROGRAMACIÓN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Qué vamos a poder hacer al terminar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Trazar la ejecución de un algoritmo paso a paso, sin ejecutarlo.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Usar secuencia, condición y repetición para resolver un problema.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Distinguir contador, acumulador, bandera y centinela, y saber cuándo usar cada uno.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Escribir pseudocódigo que pase casos normales y casos límite.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Explicar qué son clase, objeto, atributo y método con un ejemplo propio.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Antes de escribir nada: entrada, proceso y salida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1">
                <a:solidFill>
                  <a:srgbClr val="14181F"/>
                </a:solidFill>
                <a:latin typeface="Calibri"/>
              </a:rPr>
              <a:t>¿Qué datos recibe?  ¿Qué hace con ellos?  ¿Qué produce?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Si no puedes responder las tres, el problema está mal planteado y cualquier código será un intento a ciegas.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La salida se especifica con su FORMATO EXACTO: «3.5» y «El promedio es 3.5» no son lo mismo.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Si dos personas leen tu enunciado y escriben salidas distintas, falta precisión.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Un algoritmo: finito, ordenado, no ambiguo, y termina.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Los cuatro patrones que resuelven casi todo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40280"/>
          <a:ext cx="10515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3035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Patrón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Responde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Inicialización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Dentro del ciclo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Contador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¿Cuántos?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c ←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c ← c + 1 (bajo condición)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Acumulador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¿Cuánto en total?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s ←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s ← s + x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Bandera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¿Ocurrió alguna vez?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b ← Falso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b ← Verdadero cuando ocurre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Centinela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¿Hasta cuándo leo?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Leer antes del ciclo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Procesar y volver a leer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98347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Contador crece de a 1. Acumulador crece según el valor leído. No son lo mismo.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La asignación no es una igualdad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400" b="1">
                <a:solidFill>
                  <a:srgbClr val="14181F"/>
                </a:solidFill>
                <a:latin typeface="Calibri"/>
              </a:rPr>
              <a:t>x ← x + 1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Se evalúa TODO lo que está a la derecha y el resultado se guarda en la variable de la izquierda.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En matemáticas, x = x + 1 no tiene solución. En programación es la operación más común del mundo.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Trazar a mano es la habilidad que permite encontrar un error sin ejecutar, y es lo que se pregunta en el parcial.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Tres estructuras de control: secuencia, selección y repetición. Con eso se construye todo.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De la programación estructurada a los objetos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40280"/>
          <a:ext cx="10515600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532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Clase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Atributos (sustantivos)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F"/>
                          </a:solidFill>
                        </a:rPr>
                        <a:t>Métodos (verbos)</a:t>
                      </a:r>
                    </a:p>
                  </a:txBody>
                  <a:tcPr/>
                </a:tc>
              </a:tr>
              <a:tr h="5532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Sala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código, capacidad, tiene proyector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reservar(franja), liberar(), estaDisponible()</a:t>
                      </a:r>
                    </a:p>
                  </a:txBody>
                  <a:tcPr/>
                </a:tc>
              </a:tr>
              <a:tr h="5532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Reserva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sala, estudiante, fecha, hora inicio, hora fin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cancelar(), duracion(), seSolapaCon(otra)</a:t>
                      </a:r>
                    </a:p>
                  </a:txBody>
                  <a:tcPr/>
                </a:tc>
              </a:tr>
              <a:tr h="5532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Estudiante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nombres, código, programa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A5464"/>
                          </a:solidFill>
                        </a:rPr>
                        <a:t>reservasActivas(), puedeReservar()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5445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Lo que cambia entre paradigmas no es la lógica: es quién responde por ella.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10 ·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Abran la estación 5: Pensar como programador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Sigue las variables — completar la traza paso a paso.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Arma el algoritmo — ordenar bloques; el resultado SE EJECUTA contra los casos.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Completa la decisión — elegir condiciones y probar las fronteras exactas.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Repara el ciclo — encontrar dos defectos: uno ruidoso y uno silencioso.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Contador o acumulador — completar y ver la traza de cada variable.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4181F"/>
                </a:solidFill>
                <a:latin typeface="Calibri"/>
              </a:rPr>
              <a:t>Del objeto a la clase — agrupar objetos y separar atributos de métodos.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14181F"/>
                </a:solidFill>
                <a:latin typeface="Calibri"/>
              </a:rPr>
              <a:t>Ponlo a prueba: Reto integrador · Informe de notas.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6B3C"/>
                </a:solidFill>
                <a:latin typeface="Calibri"/>
              </a:rPr>
              <a:t>Taller de cierre: un algoritmo propio en pseudocódigo, con sus decisiones explicadas.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Repaso e instrucciones del segundo parcial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Primeros 45 minutos: repaso dirigido por lo que más falló.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Revisar en el panel docente las actividades con mayor porcentaje sin resolver y proyectar esas.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Resolver en vivo las dos o tres que concentran los errores, pidiendo el razonamiento antes de la respuesta.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4181F"/>
                </a:solidFill>
                <a:latin typeface="Calibri"/>
              </a:rPr>
              <a:t>Últimos 15 minutos: instrucciones del parcial.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Alcance: sesiones 7 a 10. Formato: selección múltiple con justificación, un caso de calidad y un algoritmo en pseudocódigo.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El reto final de práctica no es el parcial ni genera nota: es el ensayo.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4FA0"/>
                </a:solidFill>
                <a:latin typeface="Calibri"/>
              </a:rPr>
              <a:t>SESIÓN 11 · ANTES DEL PARCIAL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4181F"/>
                </a:solidFill>
                <a:latin typeface="Calibri"/>
              </a:rPr>
              <a:t>Cómo prepararse con la aplicación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4181F"/>
                </a:solidFill>
                <a:latin typeface="Calibri"/>
              </a:rPr>
              <a:t>1. Hagan el reto final de práctica SIN cronómetro la primera vez.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4181F"/>
                </a:solidFill>
                <a:latin typeface="Calibri"/>
              </a:rPr>
              <a:t>2. Lean el informe por concepto que sale al terminar.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4181F"/>
                </a:solidFill>
                <a:latin typeface="Calibri"/>
              </a:rPr>
              <a:t>3. Vuelvan solo a las secciones que el informe señale. No relean todo.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4181F"/>
                </a:solidFill>
                <a:latin typeface="Calibri"/>
              </a:rPr>
              <a:t>4. Repitan el reto CON cronómetro de 45 minutos.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En «Mi progreso» cada quien ve sus intentos, las pistas que usó y sus recomendaciones de repaso.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—  La nota orientativa sobre 5,0 es una referencia del avance, no la nota del corte.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4FA0"/>
                </a:solidFill>
                <a:latin typeface="Calibri"/>
              </a:rPr>
              <a:t>Fallar en el ensayo es barato. Fallar en el parcial no.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14181F"/>
                </a:solidFill>
                <a:latin typeface="Calibri"/>
              </a:rPr>
              <a:t>Lo que se llevan del corte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4A5464"/>
                </a:solidFill>
                <a:latin typeface="Calibri"/>
              </a:rPr>
              <a:t>Un requisito sirve si se puede hacer fallar. La calidad se afirma con evidencia. Los defectos viven en los bordes. Una observación no es una promesa. Y un algoritmo sin casos de prueba tiene el mismo problema que un requisito sin umbral: nadie puede decir si está bien.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